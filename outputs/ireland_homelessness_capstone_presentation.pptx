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47700" y="914400"/>
            <a:ext cx="933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Ireland Homelessness Analytics</a:t>
            </a:r>
            <a:endParaRPr sz="40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924050"/>
            <a:ext cx="8382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2F3A44"/>
                </a:solidFill>
              </a:defRPr>
            </a:pPr>
            <a:r>
              <a:rPr sz="1800" b="0">
                <a:solidFill>
                  <a:srgbClr val="2F3A44"/>
                </a:solidFill>
              </a:rPr>
              <a:t>An end-to-end capstone project using public datasets, SQL views and Power BI-ready reporting artifacts.</a:t>
            </a:r>
            <a:endParaRPr sz="1800" b="0">
              <a:solidFill>
                <a:srgbClr val="2F3A44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85800" y="3238500"/>
            <a:ext cx="2857500" cy="10541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3238500"/>
            <a:ext cx="76200" cy="1028700"/>
          </a:xfrm>
          <a:prstGeom prst="rect">
            <a:avLst/>
          </a:prstGeom>
          <a:solidFill>
            <a:srgbClr val="2F6AA8"/>
          </a:solidFill>
          <a:ln w="0">
            <a:solidFill>
              <a:srgbClr val="2F6AA8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95350" y="33909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Core KPI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95350" y="36957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23.2 per 10,000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848100" y="3238500"/>
            <a:ext cx="2381250" cy="10541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848100" y="3238500"/>
            <a:ext cx="76200" cy="102870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057650" y="3390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Highest rate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57650" y="3695700"/>
            <a:ext cx="235077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Dublin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534150" y="3238500"/>
            <a:ext cx="3246755" cy="10547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534150" y="3238500"/>
            <a:ext cx="76200" cy="10287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743700" y="33909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Prepared pages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743700" y="36957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9 report pages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840595" y="260985"/>
            <a:ext cx="2073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7386"/>
                </a:solidFill>
              </a:defRPr>
            </a:pPr>
            <a:r>
              <a:rPr sz="1350" b="1">
                <a:solidFill>
                  <a:srgbClr val="627386"/>
                </a:solidFill>
              </a:rPr>
              <a:t>Capstone Presentation</a:t>
            </a:r>
            <a:endParaRPr sz="1350" b="1">
              <a:solidFill>
                <a:srgbClr val="627386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01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33400" y="7239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project turns fragmented public data into regional decision context</a:t>
            </a:r>
            <a:endParaRPr b="0">
              <a:solidFill>
                <a:srgbClr val="627386"/>
              </a:solidFill>
            </a:endParaRPr>
          </a:p>
          <a:p>
            <a:pPr algn="l">
              <a:defRPr sz="2850" b="1">
                <a:solidFill>
                  <a:srgbClr val="17324D"/>
                </a:solidFill>
              </a:defRPr>
            </a:pP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14350" y="26098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>
                <a:sym typeface="+mn-ea"/>
              </a:rPr>
              <a:t>Business problem</a:t>
            </a:r>
            <a:endParaRPr b="0">
              <a:solidFill>
                <a:srgbClr val="627386"/>
              </a:solidFill>
              <a:sym typeface="+mn-e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31813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916430"/>
            <a:ext cx="4953000" cy="3333750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191706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Question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2333625"/>
            <a:ext cx="4095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How do homelessness levels differ across Ireland, and what housing and economic context helps interpret those differences?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191250" y="1916430"/>
            <a:ext cx="4762500" cy="3333750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534150" y="2000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-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762750" y="2000250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Absolute counts alone can overstate large regions and understate smaller ones.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534150" y="27241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-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762750" y="2724150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Datasets use different geography grains: county, homelessness region and NUTS2.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534150" y="34480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-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762750" y="3448050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The report needs to support interpretation, not causal claims.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02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6921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Six prepared datasets form the analytical model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51815" y="3238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Datasets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323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23900" y="1524000"/>
            <a:ext cx="990600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066800" y="18669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7386"/>
                </a:solidFill>
              </a:defRPr>
            </a:pPr>
            <a:r>
              <a:rPr sz="1350" b="1">
                <a:solidFill>
                  <a:srgbClr val="627386"/>
                </a:solidFill>
              </a:rPr>
              <a:t>Dataset</a:t>
            </a:r>
            <a:endParaRPr sz="1350" b="1">
              <a:solidFill>
                <a:srgbClr val="627386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095750" y="18669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7386"/>
                </a:solidFill>
              </a:defRPr>
            </a:pPr>
            <a:r>
              <a:rPr sz="1350" b="1">
                <a:solidFill>
                  <a:srgbClr val="627386"/>
                </a:solidFill>
              </a:rPr>
              <a:t>Grain</a:t>
            </a:r>
            <a:endParaRPr sz="1350" b="1">
              <a:solidFill>
                <a:srgbClr val="62738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524750" y="1866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7386"/>
                </a:solidFill>
              </a:defRPr>
            </a:pPr>
            <a:r>
              <a:rPr sz="1350" b="1">
                <a:solidFill>
                  <a:srgbClr val="627386"/>
                </a:solidFill>
              </a:rPr>
              <a:t>Role</a:t>
            </a:r>
            <a:endParaRPr sz="1350" b="1">
              <a:solidFill>
                <a:srgbClr val="62738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66800" y="22860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Homelessness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95750" y="2286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Region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524750" y="22860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Fact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066800" y="27813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Population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095750" y="27813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County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524750" y="27813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Dimension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066800" y="3276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Rent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095750" y="32766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County + half-year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524750" y="3276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Context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066800" y="37719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Housing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095750" y="37719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County + year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524750" y="37719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Context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066800" y="42672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Unemployment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095750" y="42672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NUTS2 + year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524750" y="42672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Context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066800" y="47625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Geography bridge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4095750" y="47625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Region + county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524750" y="47625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F3A44"/>
                </a:solidFill>
              </a:defRPr>
            </a:pPr>
            <a:r>
              <a:rPr sz="1575" b="0">
                <a:solidFill>
                  <a:srgbClr val="2F3A44"/>
                </a:solidFill>
              </a:rPr>
              <a:t>Bridge</a:t>
            </a:r>
            <a:endParaRPr sz="1575" b="0">
              <a:solidFill>
                <a:srgbClr val="2F3A44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38200" y="57150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386"/>
                </a:solidFill>
              </a:defRPr>
            </a:pPr>
            <a:r>
              <a:rPr sz="1500" b="0">
                <a:solidFill>
                  <a:srgbClr val="627386"/>
                </a:solidFill>
              </a:rPr>
              <a:t>The bridge is the control point: it lets county-level data support region-level analysis without silently changing grain.</a:t>
            </a:r>
            <a:endParaRPr sz="1500" b="0">
              <a:solidFill>
                <a:srgbClr val="627386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03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51815" y="90932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workflow separates raw data, clean data, SQL logic and reporting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559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Methodology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495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2061210"/>
            <a:ext cx="2000250" cy="2857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76300" y="20193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AA8"/>
                </a:solidFill>
              </a:defRPr>
            </a:pPr>
            <a:r>
              <a:rPr sz="1500" b="1">
                <a:solidFill>
                  <a:srgbClr val="2F6AA8"/>
                </a:solidFill>
              </a:rPr>
              <a:t>01</a:t>
            </a:r>
            <a:endParaRPr sz="1500" b="1">
              <a:solidFill>
                <a:srgbClr val="2F6AA8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76300" y="2457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Validate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3048000"/>
            <a:ext cx="152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Arithmetic checks, missing values, duplicates and text consistency.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838450" y="2061210"/>
            <a:ext cx="2000250" cy="2857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028950" y="20193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AA8"/>
                </a:solidFill>
              </a:defRPr>
            </a:pPr>
            <a:r>
              <a:rPr sz="1500" b="1">
                <a:solidFill>
                  <a:srgbClr val="2F6AA8"/>
                </a:solidFill>
              </a:rPr>
              <a:t>02</a:t>
            </a:r>
            <a:endParaRPr sz="1500" b="1">
              <a:solidFill>
                <a:srgbClr val="2F6AA8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028950" y="2457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Standardise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028950" y="3048000"/>
            <a:ext cx="152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Lowercase snake_case columns and consistent geography fields.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991100" y="2061210"/>
            <a:ext cx="2000250" cy="285750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81600" y="20193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AA8"/>
                </a:solidFill>
              </a:defRPr>
            </a:pPr>
            <a:r>
              <a:rPr sz="1500" b="1">
                <a:solidFill>
                  <a:srgbClr val="2F6AA8"/>
                </a:solidFill>
              </a:rPr>
              <a:t>03</a:t>
            </a:r>
            <a:endParaRPr sz="1500" b="1">
              <a:solidFill>
                <a:srgbClr val="2F6AA8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81600" y="2457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Model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181600" y="3048000"/>
            <a:ext cx="152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Bridge county-based data to homelessness regions with documented assumptions.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143750" y="2061210"/>
            <a:ext cx="2000250" cy="2857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311390" y="20193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AA8"/>
                </a:solidFill>
              </a:defRPr>
            </a:pPr>
            <a:r>
              <a:rPr sz="1500" b="1">
                <a:solidFill>
                  <a:srgbClr val="2F6AA8"/>
                </a:solidFill>
              </a:rPr>
              <a:t>04</a:t>
            </a:r>
            <a:endParaRPr sz="1500" b="1">
              <a:solidFill>
                <a:srgbClr val="2F6AA8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334250" y="2457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Implement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334250" y="3048000"/>
            <a:ext cx="152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Load clean files to SQLite and create analytical SQL views.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243060" y="2061210"/>
            <a:ext cx="2000250" cy="2857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441180" y="20256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AA8"/>
                </a:solidFill>
              </a:defRPr>
            </a:pPr>
            <a:r>
              <a:rPr sz="1500" b="1">
                <a:solidFill>
                  <a:srgbClr val="2F6AA8"/>
                </a:solidFill>
              </a:rPr>
              <a:t>05</a:t>
            </a:r>
            <a:endParaRPr sz="1500" b="1">
              <a:solidFill>
                <a:srgbClr val="2F6AA8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486900" y="249301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Visualise</a:t>
            </a:r>
            <a:endParaRPr sz="2025" b="1">
              <a:solidFill>
                <a:srgbClr val="17324D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486900" y="3048000"/>
            <a:ext cx="152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Use Power BI-ready extracts and page specs for dashboard build.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85800" y="54292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Method principle: define standards once, then apply them consistently across every dataset.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04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headline rate is 23.2 homeless adults per 10,000 population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30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Overview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92260" y="171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524000"/>
            <a:ext cx="233870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524000"/>
            <a:ext cx="76200" cy="1028700"/>
          </a:xfrm>
          <a:prstGeom prst="rect">
            <a:avLst/>
          </a:prstGeom>
          <a:solidFill>
            <a:srgbClr val="2F6AA8"/>
          </a:solidFill>
          <a:ln w="0">
            <a:solidFill>
              <a:srgbClr val="2F6AA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76300" y="1676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Homeless adults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19812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11,944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67385" y="3143885"/>
            <a:ext cx="233743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66750" y="3141345"/>
            <a:ext cx="76200" cy="10287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76300" y="31813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Population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01700" y="3357245"/>
            <a:ext cx="212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5,149,139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95960" y="4642485"/>
            <a:ext cx="230886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95325" y="4643755"/>
            <a:ext cx="76200" cy="102870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76300" y="4763770"/>
            <a:ext cx="143383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Highest rate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39470" y="5157470"/>
            <a:ext cx="207454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Dublin 57.26</a:t>
            </a:r>
            <a:endParaRPr sz="2550" b="1">
              <a:solidFill>
                <a:srgbClr val="17324D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9615" y="953770"/>
            <a:ext cx="8326120" cy="5142230"/>
          </a:xfrm>
          <a:prstGeom prst="roundRect">
            <a:avLst>
              <a:gd name="adj" fmla="val 3750"/>
            </a:avLst>
          </a:prstGeom>
        </p:spPr>
      </p:pic>
      <p:sp>
        <p:nvSpPr>
          <p:cNvPr id="17" name="Rectangle 16"/>
          <p:cNvSpPr>
            <a:spLocks noGrp="1"/>
          </p:cNvSpPr>
          <p:nvPr/>
        </p:nvSpPr>
        <p:spPr>
          <a:xfrm>
            <a:off x="666750" y="609600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Decision implication: the core comparison KPI should be population-adjusted, not absolute count alone.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05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76885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Normalisation changes the regional story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14350" y="1892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Regional findings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24638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85420" y="1524000"/>
            <a:ext cx="3197225" cy="3324225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35280" y="1809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What matters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52500" y="2381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sz="1500" b="1">
              <a:solidFill>
                <a:srgbClr val="17324D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35280" y="224790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Dublin remains the highest-rate region after population adjustment.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52500" y="31242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7670" y="299148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Ranking by rate is more informative than comparing counts alone.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38671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07670" y="386715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Regional comparisons should use the geography bridge assumptions explicitly.</a:t>
            </a:r>
            <a:endParaRPr sz="1500" b="0">
              <a:solidFill>
                <a:srgbClr val="2F3A44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295" y="951230"/>
            <a:ext cx="8438515" cy="5260975"/>
          </a:xfrm>
          <a:prstGeom prst="roundRect">
            <a:avLst>
              <a:gd name="adj" fmla="val 2857"/>
            </a:avLst>
          </a:prstGeom>
        </p:spPr>
      </p:pic>
      <p:sp>
        <p:nvSpPr>
          <p:cNvPr id="13" name="Rectangle 12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06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adult homeless population is concentrated in ages 25 to 44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51815" y="1524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Demographics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20505" y="2095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9277350" y="2421255"/>
            <a:ext cx="2381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277985" y="2418080"/>
            <a:ext cx="76200" cy="10287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448800" y="249301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Largest age group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448800" y="2853055"/>
            <a:ext cx="13055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25-44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9277350" y="3743325"/>
            <a:ext cx="238188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277985" y="3736340"/>
            <a:ext cx="76200" cy="1028700"/>
          </a:xfrm>
          <a:prstGeom prst="rect">
            <a:avLst/>
          </a:prstGeom>
          <a:solidFill>
            <a:srgbClr val="2F6AA8"/>
          </a:solidFill>
          <a:ln w="0">
            <a:solidFill>
              <a:srgbClr val="2F6AA8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448800" y="386143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Share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480550" y="4171950"/>
            <a:ext cx="1752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52.37%</a:t>
            </a:r>
            <a:endParaRPr sz="2550" b="1">
              <a:solidFill>
                <a:srgbClr val="17324D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9277985" y="5085715"/>
            <a:ext cx="2381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9277985" y="5067300"/>
            <a:ext cx="76200" cy="102870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9408160" y="516001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386"/>
                </a:solidFill>
              </a:defRPr>
            </a:pPr>
            <a:r>
              <a:rPr sz="1200" b="0">
                <a:solidFill>
                  <a:srgbClr val="627386"/>
                </a:solidFill>
              </a:rPr>
              <a:t>Male share</a:t>
            </a:r>
            <a:endParaRPr sz="1200" b="0">
              <a:solidFill>
                <a:srgbClr val="627386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480550" y="5490845"/>
            <a:ext cx="1752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59.5%</a:t>
            </a:r>
            <a:endParaRPr sz="2550" b="1">
              <a:solidFill>
                <a:srgbClr val="17324D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" y="1277620"/>
            <a:ext cx="8604250" cy="4857750"/>
          </a:xfrm>
          <a:prstGeom prst="roundRect">
            <a:avLst>
              <a:gd name="adj" fmla="val 3750"/>
            </a:avLst>
          </a:prstGeom>
        </p:spPr>
      </p:pic>
      <p:sp>
        <p:nvSpPr>
          <p:cNvPr id="17" name="Rectangle 16"/>
          <p:cNvSpPr>
            <a:spLocks noGrp="1"/>
          </p:cNvSpPr>
          <p:nvPr/>
        </p:nvSpPr>
        <p:spPr>
          <a:xfrm>
            <a:off x="685800" y="60960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Implication: demographic composition should inform service planning, not only regional totals.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07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Housing pressure indicators align with high homelessness rates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14350" y="1892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Housing context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20505" y="24638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91770" y="2878455"/>
            <a:ext cx="3239135" cy="3398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29972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Evidence from SQL views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52500" y="2381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endParaRPr sz="1425" b="1">
              <a:solidFill>
                <a:srgbClr val="17324D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07670" y="350139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F3A44"/>
                </a:solidFill>
              </a:defRPr>
            </a:pPr>
            <a:r>
              <a:rPr sz="1425" b="0">
                <a:solidFill>
                  <a:srgbClr val="2F3A44"/>
                </a:solidFill>
              </a:rPr>
              <a:t>Rent pressure correlation with homelessness rate: 0.885.</a:t>
            </a:r>
            <a:endParaRPr sz="1425" b="0">
              <a:solidFill>
                <a:srgbClr val="2F3A4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7670" y="40576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F3A44"/>
                </a:solidFill>
              </a:defRPr>
            </a:pPr>
            <a:r>
              <a:rPr sz="1425" b="0">
                <a:solidFill>
                  <a:srgbClr val="2F3A44"/>
                </a:solidFill>
              </a:rPr>
              <a:t>Housing affordability correlation in 2023: 0.913.</a:t>
            </a:r>
            <a:endParaRPr sz="1425" b="0">
              <a:solidFill>
                <a:srgbClr val="2F3A4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36004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endParaRPr sz="1425" b="1">
              <a:solidFill>
                <a:srgbClr val="17324D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07670" y="467233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F3A44"/>
                </a:solidFill>
              </a:defRPr>
            </a:pPr>
            <a:r>
              <a:rPr sz="1425" b="0">
                <a:solidFill>
                  <a:srgbClr val="2F3A44"/>
                </a:solidFill>
              </a:rPr>
              <a:t>Dublin is the highest region for both homelessness rate and affordability pressure.</a:t>
            </a:r>
            <a:endParaRPr sz="1425" b="0">
              <a:solidFill>
                <a:srgbClr val="2F3A44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07670" y="5517515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F3A44"/>
                </a:solidFill>
              </a:defRPr>
            </a:pPr>
            <a:r>
              <a:rPr sz="1425" b="0">
                <a:solidFill>
                  <a:srgbClr val="2F3A44"/>
                </a:solidFill>
              </a:rPr>
              <a:t>These are contextual associations, not causal proof.</a:t>
            </a:r>
            <a:endParaRPr sz="1425" b="0">
              <a:solidFill>
                <a:srgbClr val="2F3A44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435" y="1296035"/>
            <a:ext cx="6072505" cy="5066030"/>
          </a:xfrm>
          <a:prstGeom prst="roundRect">
            <a:avLst>
              <a:gd name="adj" fmla="val 5714"/>
            </a:avLst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1296035"/>
            <a:ext cx="5748020" cy="5066030"/>
          </a:xfrm>
          <a:prstGeom prst="roundRect">
            <a:avLst>
              <a:gd name="adj" fmla="val 5455"/>
            </a:avLst>
          </a:prstGeom>
        </p:spPr>
      </p:pic>
      <p:sp>
        <p:nvSpPr>
          <p:cNvPr id="17" name="Rectangle 16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08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Unemployment is useful context, but geography limits interpretation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51815" y="1892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Economic context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171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1571625"/>
            <a:ext cx="330962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90600" y="2000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-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219200" y="20002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Unemployment is available at NUTS2 level, not homelessness-region level.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90600" y="2762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-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19200" y="27622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North-East spans two NUTS2 regions, so it must remain a mixed-geography case.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90600" y="3524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-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219200" y="35242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The page supports context, not a local causal unemployment explanation.</a:t>
            </a:r>
            <a:endParaRPr sz="1500" b="0">
              <a:solidFill>
                <a:srgbClr val="2F3A44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020" y="952500"/>
            <a:ext cx="7744460" cy="5558155"/>
          </a:xfrm>
          <a:prstGeom prst="roundRect">
            <a:avLst>
              <a:gd name="adj" fmla="val 2857"/>
            </a:avLst>
          </a:prstGeom>
        </p:spPr>
      </p:pic>
      <p:sp>
        <p:nvSpPr>
          <p:cNvPr id="12" name="Rectangle 11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09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report supports four practical decisions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23570" y="1524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Recommendations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144000" y="18923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62000" y="1504950"/>
            <a:ext cx="10001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028700" y="17335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F6AA8"/>
                </a:solidFill>
              </a:defRPr>
            </a:pPr>
            <a:r>
              <a:rPr sz="2550" b="1">
                <a:solidFill>
                  <a:srgbClr val="2F6AA8"/>
                </a:solidFill>
              </a:rPr>
              <a:t>1</a:t>
            </a:r>
            <a:endParaRPr sz="2550" b="1">
              <a:solidFill>
                <a:srgbClr val="2F6AA8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619250" y="16764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Use rate per 10,000 as the primary regional KPI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0193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This avoids over-relying on absolute counts.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62000" y="2571750"/>
            <a:ext cx="10001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028700" y="28003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F6AA8"/>
                </a:solidFill>
              </a:defRPr>
            </a:pPr>
            <a:r>
              <a:rPr sz="2550" b="1">
                <a:solidFill>
                  <a:srgbClr val="2F6AA8"/>
                </a:solidFill>
              </a:rPr>
              <a:t>2</a:t>
            </a:r>
            <a:endParaRPr sz="2550" b="1">
              <a:solidFill>
                <a:srgbClr val="2F6AA8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619250" y="27432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Monitor regions with combined housing and homelessness pressure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619250" y="30861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Use rent, affordability and homelessness rate together.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62000" y="3638550"/>
            <a:ext cx="10001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028700" y="38671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F6AA8"/>
                </a:solidFill>
              </a:defRPr>
            </a:pPr>
            <a:r>
              <a:rPr sz="2550" b="1">
                <a:solidFill>
                  <a:srgbClr val="2F6AA8"/>
                </a:solidFill>
              </a:rPr>
              <a:t>3</a:t>
            </a:r>
            <a:endParaRPr sz="2550" b="1">
              <a:solidFill>
                <a:srgbClr val="2F6AA8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619250" y="38100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Publish geography caveats with regional comparisons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619250" y="41529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County, homelessness region and NUTS2 are different grains.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62000" y="4705350"/>
            <a:ext cx="10001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028700" y="49339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F6AA8"/>
                </a:solidFill>
              </a:defRPr>
            </a:pPr>
            <a:r>
              <a:rPr sz="2550" b="1">
                <a:solidFill>
                  <a:srgbClr val="2F6AA8"/>
                </a:solidFill>
              </a:rPr>
              <a:t>4</a:t>
            </a:r>
            <a:endParaRPr sz="2550" b="1">
              <a:solidFill>
                <a:srgbClr val="2F6AA8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619250" y="48768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Expand housing-market indicators for future analysis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619250" y="52197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F3A44"/>
                </a:solidFill>
              </a:defRPr>
            </a:pPr>
            <a:r>
              <a:rPr sz="1350" b="0">
                <a:solidFill>
                  <a:srgbClr val="2F3A44"/>
                </a:solidFill>
              </a:rPr>
              <a:t>Richer housing supply and rent affordability data would improve interpretation.</a:t>
            </a:r>
            <a:endParaRPr sz="1350" b="0">
              <a:solidFill>
                <a:srgbClr val="2F3A44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10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514350" y="40005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findings are strong enough for context, not causal attribution</a:t>
            </a:r>
            <a:endParaRPr sz="28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8923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386"/>
                </a:solidFill>
              </a:defRPr>
            </a:pPr>
            <a:r>
              <a:rPr sz="1350" b="0">
                <a:solidFill>
                  <a:srgbClr val="627386"/>
                </a:solidFill>
              </a:rPr>
              <a:t>Limitations</a:t>
            </a:r>
            <a:endParaRPr sz="1350" b="0">
              <a:solidFill>
                <a:srgbClr val="627386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48750" y="24638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386"/>
                </a:solidFill>
              </a:defRPr>
            </a:pPr>
            <a:r>
              <a:rPr sz="975" b="1">
                <a:solidFill>
                  <a:srgbClr val="627386"/>
                </a:solidFill>
              </a:rPr>
              <a:t>Ireland Homelessness Analytics</a:t>
            </a:r>
            <a:endParaRPr sz="975" b="1">
              <a:solidFill>
                <a:srgbClr val="627386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91770" y="1428750"/>
            <a:ext cx="3563620" cy="3238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90600" y="1857375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lang="ru-RU" sz="150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63525" y="1600200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Accommodation category totals do not perfectly equal total adults in every region.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63525" y="2453005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Rent is time-series; homelessness is a regional snapshot.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90600" y="3305175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35280" y="3343275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2024 earnings are unavailable, so affordability ratio defaults to 2023.</a:t>
            </a:r>
            <a:endParaRPr sz="1500" b="0">
              <a:solidFill>
                <a:srgbClr val="2F3A44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90600" y="4029075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35280" y="4005580"/>
            <a:ext cx="367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F3A44"/>
                </a:solidFill>
              </a:defRPr>
            </a:pPr>
            <a:r>
              <a:rPr sz="1500" b="0">
                <a:solidFill>
                  <a:srgbClr val="2F3A44"/>
                </a:solidFill>
              </a:rPr>
              <a:t>Unemployment is NUTS2-level and North-East is mixed geography.</a:t>
            </a:r>
            <a:endParaRPr sz="1500" b="0">
              <a:solidFill>
                <a:srgbClr val="2F3A44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4290" y="908685"/>
            <a:ext cx="8084185" cy="5612130"/>
          </a:xfrm>
          <a:prstGeom prst="roundRect">
            <a:avLst>
              <a:gd name="adj" fmla="val 2857"/>
            </a:avLst>
          </a:prstGeom>
        </p:spPr>
      </p:pic>
      <p:sp>
        <p:nvSpPr>
          <p:cNvPr id="14" name="Rectangle 13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11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819150"/>
            <a:ext cx="781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Questions</a:t>
            </a:r>
            <a:endParaRPr sz="4350" b="1">
              <a:solidFill>
                <a:srgbClr val="17324D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23900" y="1952625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F3A44"/>
                </a:solidFill>
              </a:defRPr>
            </a:pPr>
            <a:r>
              <a:rPr sz="1875" b="0">
                <a:solidFill>
                  <a:srgbClr val="2F3A44"/>
                </a:solidFill>
              </a:rPr>
              <a:t>The project demonstrates a full analytics lifecycle: problem framing, data validation, standardisation, bridge design, SQL views, Power BI-ready pages, interpretation and recommendations.</a:t>
            </a:r>
            <a:endParaRPr sz="1875" b="0">
              <a:solidFill>
                <a:srgbClr val="2F3A44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23900" y="3429000"/>
            <a:ext cx="923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67715" y="2000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627386"/>
                </a:solidFill>
              </a:defRPr>
            </a:pPr>
            <a:r>
              <a:rPr sz="1500" b="1">
                <a:solidFill>
                  <a:srgbClr val="627386"/>
                </a:solidFill>
              </a:rPr>
              <a:t>Final takeaway</a:t>
            </a:r>
            <a:endParaRPr sz="1500" b="1">
              <a:solidFill>
                <a:srgbClr val="627386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90600" y="3573145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Use the report to compare regions carefully and to identify where deeper housing support analysis should be prioritised.</a:t>
            </a:r>
            <a:endParaRPr sz="1800" b="1">
              <a:solidFill>
                <a:srgbClr val="17324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143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386"/>
                </a:solidFill>
              </a:defRPr>
            </a:pPr>
            <a:r>
              <a:rPr sz="1050" b="1">
                <a:solidFill>
                  <a:srgbClr val="627386"/>
                </a:solidFill>
              </a:rPr>
              <a:t>12</a:t>
            </a:r>
            <a:endParaRPr sz="1050" b="1">
              <a:solidFill>
                <a:srgbClr val="62738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90600" y="6457950"/>
            <a:ext cx="10668000" cy="9525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WPS Presentation</Application>
  <PresentationFormat>Converted Presentation</PresentationFormat>
  <Paragraphs>293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Виталий Экзархо</cp:lastModifiedBy>
  <cp:revision>2</cp:revision>
  <dcterms:created xsi:type="dcterms:W3CDTF">2026-07-05T13:46:00Z</dcterms:created>
  <dcterms:modified xsi:type="dcterms:W3CDTF">2026-07-05T16:26:19Z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96904D6A0015460B99813E1FE61C5E59_12</vt:lpwstr>
  </property>
  <property fmtid="{D5CDD505-2E9C-101B-9397-08002B2CF9AE}" pid="3" name="KSOProductBuildVer">
    <vt:lpwstr>1033-12.1.0.26880</vt:lpwstr>
  </property>
</Properties>
</file>